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Proyecto en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Proyecto en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Proyecto en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Pueden agregarse fotos reales de cada componente.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Proyecto en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Mockups conceptuales, no capturas de la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Proyecto en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Proyecto en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Proyecto en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Proyecto en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Proyecto en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Proyecto en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1" cy="39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08736"/>
            <a:ext cx="10566400" cy="453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1" cy="39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08736"/>
            <a:ext cx="10566400" cy="453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7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$ ./alarma --iniciar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4902"/>
            <a:ext cx="10883393" cy="1087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Sistema de Alarma Inteligente con ESP32 y Aplicación Android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5975" y="2532948"/>
            <a:ext cx="10560051" cy="3305877"/>
          </a:xfrm>
          <a:prstGeom prst="roundRect">
            <a:avLst>
              <a:gd name="adj" fmla="val 297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8662" y="2535634"/>
            <a:ext cx="10554677" cy="304800"/>
          </a:xfrm>
          <a:custGeom>
            <a:avLst/>
            <a:gdLst/>
            <a:ahLst/>
            <a:cxnLst/>
            <a:rect l="l" t="t" r="r" b="b"/>
            <a:pathLst>
              <a:path w="10554677" h="304800">
                <a:moveTo>
                  <a:pt x="101600" y="0"/>
                </a:moveTo>
                <a:lnTo>
                  <a:pt x="10453077" y="0"/>
                </a:lnTo>
                <a:arcTo hR="101600" wR="101600" stAng="16200000" swAng="5400000"/>
                <a:lnTo>
                  <a:pt x="10554677" y="304800"/>
                </a:lnTo>
                <a:lnTo>
                  <a:pt x="0" y="30480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F2630"/>
          </a:solidFill>
          <a:ln/>
        </p:spPr>
      </p:sp>
      <p:sp>
        <p:nvSpPr>
          <p:cNvPr id="6" name="Shape 4"/>
          <p:cNvSpPr/>
          <p:nvPr/>
        </p:nvSpPr>
        <p:spPr>
          <a:xfrm>
            <a:off x="971062" y="2643585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123462" y="2643585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75862" y="2643585"/>
            <a:ext cx="88900" cy="889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529862" y="2581367"/>
            <a:ext cx="1218028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Proyecto.kt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6462" y="3018235"/>
            <a:ext cx="105050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object</a:t>
            </a:r>
            <a:r>
              <a:rPr lang="en-US" sz="15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50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Proyecto</a:t>
            </a:r>
            <a:r>
              <a:rPr lang="en-US" sz="15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{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6462" y="3310334"/>
            <a:ext cx="1050505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val</a:t>
            </a:r>
            <a:r>
              <a:rPr lang="en-US" sz="15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carrera </a:t>
            </a:r>
            <a:r>
              <a:rPr lang="en-US" sz="15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=</a:t>
            </a:r>
            <a:r>
              <a:rPr lang="en-US" sz="15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500" dirty="0">
                <a:solidFill>
                  <a:srgbClr val="A5D6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"Ingeniería en Informática"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6462" y="3621484"/>
            <a:ext cx="1050505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val</a:t>
            </a:r>
            <a:r>
              <a:rPr lang="en-US" sz="15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asignatura </a:t>
            </a:r>
            <a:r>
              <a:rPr lang="en-US" sz="15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=</a:t>
            </a:r>
            <a:r>
              <a:rPr lang="en-US" sz="15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500" dirty="0">
                <a:solidFill>
                  <a:srgbClr val="A5D6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"Aplicaciones Móviles para IoT (TI3042) · Unidad 2"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6462" y="3932634"/>
            <a:ext cx="1050505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val</a:t>
            </a:r>
            <a:r>
              <a:rPr lang="en-US" sz="15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institucion </a:t>
            </a:r>
            <a:r>
              <a:rPr lang="en-US" sz="15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=</a:t>
            </a:r>
            <a:r>
              <a:rPr lang="en-US" sz="15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500" dirty="0">
                <a:solidFill>
                  <a:srgbClr val="A5D6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"INACAP"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96462" y="4243784"/>
            <a:ext cx="1050505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val</a:t>
            </a:r>
            <a:r>
              <a:rPr lang="en-US" sz="15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integrantes </a:t>
            </a:r>
            <a:r>
              <a:rPr lang="en-US" sz="15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=</a:t>
            </a:r>
            <a:r>
              <a:rPr lang="en-US" sz="15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500" dirty="0">
                <a:solidFill>
                  <a:srgbClr val="A5D6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"Diego Guerrero, Diego Arellano"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6462" y="4554934"/>
            <a:ext cx="1050505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val</a:t>
            </a:r>
            <a:r>
              <a:rPr lang="en-US" sz="15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docente </a:t>
            </a:r>
            <a:r>
              <a:rPr lang="en-US" sz="15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=</a:t>
            </a:r>
            <a:r>
              <a:rPr lang="en-US" sz="15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500" dirty="0">
                <a:solidFill>
                  <a:srgbClr val="A5D6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"Cristofher Andres Rojas Rojas"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96462" y="4866084"/>
            <a:ext cx="105050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}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65"/>
            <a:ext cx="10883393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INACAP · TI3042 · Unidad 2 · 1/12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16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problematica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()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01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10311"/>
            <a:ext cx="10560051" cy="4428515"/>
          </a:xfrm>
          <a:prstGeom prst="roundRect">
            <a:avLst>
              <a:gd name="adj" fmla="val 222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662" y="1412997"/>
            <a:ext cx="10554677" cy="304800"/>
          </a:xfrm>
          <a:custGeom>
            <a:avLst/>
            <a:gdLst/>
            <a:ahLst/>
            <a:cxnLst/>
            <a:rect l="l" t="t" r="r" b="b"/>
            <a:pathLst>
              <a:path w="10554677" h="304800">
                <a:moveTo>
                  <a:pt x="101600" y="0"/>
                </a:moveTo>
                <a:lnTo>
                  <a:pt x="10453077" y="0"/>
                </a:lnTo>
                <a:arcTo hR="101600" wR="101600" stAng="16200000" swAng="5400000"/>
                <a:lnTo>
                  <a:pt x="10554677" y="304800"/>
                </a:lnTo>
                <a:lnTo>
                  <a:pt x="0" y="30480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F2630"/>
          </a:solidFill>
          <a:ln/>
        </p:spPr>
      </p:sp>
      <p:sp>
        <p:nvSpPr>
          <p:cNvPr id="5" name="Shape 3"/>
          <p:cNvSpPr/>
          <p:nvPr/>
        </p:nvSpPr>
        <p:spPr>
          <a:xfrm>
            <a:off x="971062" y="1520947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123462" y="1520947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75862" y="1520947"/>
            <a:ext cx="88900" cy="889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529862" y="1458730"/>
            <a:ext cx="166094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Problematica.kt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6462" y="1895597"/>
            <a:ext cx="5095553" cy="27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necesidad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6462" y="2233399"/>
            <a:ext cx="5095553" cy="471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▸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Los accesos (puertas) son puntos críticos que conviene monitorear.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6462" y="2768020"/>
            <a:ext cx="5095553" cy="471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▸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Se requiere detectar aperturas y presencia con sensores electrónicos.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96462" y="3302642"/>
            <a:ext cx="5095553" cy="471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▸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Una alarma convencional avisa solo en el lugar: sin acceso remoto ni registro de eventos.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48400" y="1895597"/>
            <a:ext cx="5095553" cy="27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aporte de la app móvil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48400" y="2233399"/>
            <a:ext cx="5095553" cy="248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▸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Armar y desarmar la alarma desde el celular.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48400" y="2545159"/>
            <a:ext cx="5095553" cy="471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▸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Ver en tiempo real el estado de sensores y de la conexión.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8400" y="3079781"/>
            <a:ext cx="5095553" cy="471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▸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Recibir alertas y consultar un historial de eventos.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8400" y="3614402"/>
            <a:ext cx="5095553" cy="471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▸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Supervisar desde más de un dispositivo a la vez.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64"/>
            <a:ext cx="10883393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INACAP · TI3042 · Unidad 2 · 2/12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16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objetivos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()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02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10311"/>
            <a:ext cx="10560051" cy="4428515"/>
          </a:xfrm>
          <a:prstGeom prst="roundRect">
            <a:avLst>
              <a:gd name="adj" fmla="val 222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662" y="1412997"/>
            <a:ext cx="10554677" cy="304800"/>
          </a:xfrm>
          <a:custGeom>
            <a:avLst/>
            <a:gdLst/>
            <a:ahLst/>
            <a:cxnLst/>
            <a:rect l="l" t="t" r="r" b="b"/>
            <a:pathLst>
              <a:path w="10554677" h="304800">
                <a:moveTo>
                  <a:pt x="101600" y="0"/>
                </a:moveTo>
                <a:lnTo>
                  <a:pt x="10453077" y="0"/>
                </a:lnTo>
                <a:arcTo hR="101600" wR="101600" stAng="16200000" swAng="5400000"/>
                <a:lnTo>
                  <a:pt x="10554677" y="304800"/>
                </a:lnTo>
                <a:lnTo>
                  <a:pt x="0" y="30480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F2630"/>
          </a:solidFill>
          <a:ln/>
        </p:spPr>
      </p:sp>
      <p:sp>
        <p:nvSpPr>
          <p:cNvPr id="5" name="Shape 3"/>
          <p:cNvSpPr/>
          <p:nvPr/>
        </p:nvSpPr>
        <p:spPr>
          <a:xfrm>
            <a:off x="971062" y="1520947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123462" y="1520947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75862" y="1520947"/>
            <a:ext cx="88900" cy="889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529862" y="1458730"/>
            <a:ext cx="1328738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Objetivos.kt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9637" y="1898772"/>
            <a:ext cx="10192727" cy="738126"/>
          </a:xfrm>
          <a:prstGeom prst="roundRect">
            <a:avLst>
              <a:gd name="adj" fmla="val 9893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323" y="2028459"/>
            <a:ext cx="10231355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Objetivo general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29323" y="2292595"/>
            <a:ext cx="10231355" cy="24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Desarrollar un sistema de alarma conectado a una aplicación Android mediante Wi-Fi.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96462" y="2779775"/>
            <a:ext cx="10505050" cy="25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30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detectarPuertas()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3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Sensor magnético: detecta apertura y cierre.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6462" y="3150608"/>
            <a:ext cx="10505050" cy="25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30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detectarPresencia()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3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Sensor infrarrojo: detecta presencia de personas u objetos.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6462" y="3521442"/>
            <a:ext cx="10505050" cy="25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30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activarAlertas()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3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LED y zumbador pasivo avisan visual y sonoramente.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6462" y="3892276"/>
            <a:ext cx="10505050" cy="25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30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controlarDesdeAndroid()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3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Armar y desarmar la alarma desde la app.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6462" y="4263110"/>
            <a:ext cx="10505050" cy="25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30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consultarEventos()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13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Historial visible desde dos celulares.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66"/>
            <a:ext cx="10883393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INACAP · TI3042 · Unidad 2 · 3/12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2"/>
            <a:ext cx="10883393" cy="416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componentes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()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03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10311"/>
            <a:ext cx="10560051" cy="4428515"/>
          </a:xfrm>
          <a:prstGeom prst="roundRect">
            <a:avLst>
              <a:gd name="adj" fmla="val 222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662" y="1412997"/>
            <a:ext cx="10554677" cy="304800"/>
          </a:xfrm>
          <a:custGeom>
            <a:avLst/>
            <a:gdLst/>
            <a:ahLst/>
            <a:cxnLst/>
            <a:rect l="l" t="t" r="r" b="b"/>
            <a:pathLst>
              <a:path w="10554677" h="304800">
                <a:moveTo>
                  <a:pt x="101600" y="0"/>
                </a:moveTo>
                <a:lnTo>
                  <a:pt x="10453077" y="0"/>
                </a:lnTo>
                <a:arcTo hR="101600" wR="101600" stAng="16200000" swAng="5400000"/>
                <a:lnTo>
                  <a:pt x="10554677" y="304800"/>
                </a:lnTo>
                <a:lnTo>
                  <a:pt x="0" y="30480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F2630"/>
          </a:solidFill>
          <a:ln/>
        </p:spPr>
      </p:sp>
      <p:sp>
        <p:nvSpPr>
          <p:cNvPr id="5" name="Shape 3"/>
          <p:cNvSpPr/>
          <p:nvPr/>
        </p:nvSpPr>
        <p:spPr>
          <a:xfrm>
            <a:off x="971062" y="1520947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123462" y="1520947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75862" y="1520947"/>
            <a:ext cx="88900" cy="889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529862" y="1458730"/>
            <a:ext cx="1550194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Componentes.kt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9637" y="1898772"/>
            <a:ext cx="3308655" cy="1381980"/>
          </a:xfrm>
          <a:prstGeom prst="roundRect">
            <a:avLst>
              <a:gd name="adj" fmla="val 528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323" y="2028459"/>
            <a:ext cx="3140761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9C0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Esp32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29323" y="2292595"/>
            <a:ext cx="3140761" cy="883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Microcontrolador con Wi-Fi y Bluetooth integrados. Ejecuta la lógica y se conecta a internet.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41642" y="1898772"/>
            <a:ext cx="3308686" cy="1381980"/>
          </a:xfrm>
          <a:prstGeom prst="roundRect">
            <a:avLst>
              <a:gd name="adj" fmla="val 528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1329" y="2028459"/>
            <a:ext cx="3140792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SensorMagnetico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1329" y="2292595"/>
            <a:ext cx="3140792" cy="454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Detecta apertura y cierre de la puerta (imán + contacto).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3678" y="1898772"/>
            <a:ext cx="3308686" cy="1381980"/>
          </a:xfrm>
          <a:prstGeom prst="roundRect">
            <a:avLst>
              <a:gd name="adj" fmla="val 528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3364" y="2028459"/>
            <a:ext cx="3140792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A65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SensorInfrarrojo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13364" y="2292595"/>
            <a:ext cx="3140792" cy="66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Detecta presencia según las capacidades del sensor disponible.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99637" y="3414103"/>
            <a:ext cx="3397250" cy="1167362"/>
          </a:xfrm>
          <a:prstGeom prst="roundRect">
            <a:avLst>
              <a:gd name="adj" fmla="val 6256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9323" y="3543790"/>
            <a:ext cx="3232013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5D6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Led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29323" y="3807926"/>
            <a:ext cx="3232013" cy="454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Indicador visual del estado de la alarma.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30237" y="3414103"/>
            <a:ext cx="3397250" cy="1167362"/>
          </a:xfrm>
          <a:prstGeom prst="roundRect">
            <a:avLst>
              <a:gd name="adj" fmla="val 6256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9923" y="3543790"/>
            <a:ext cx="3232013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ZumbadorPasivo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59923" y="3807926"/>
            <a:ext cx="3232013" cy="66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Alarma sonora: se activa con una señal generada por el ESP32.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64"/>
            <a:ext cx="10883393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INACAP · TI3042 · Unidad 2 · 4/12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16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appAndroid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()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04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10311"/>
            <a:ext cx="10560051" cy="4428515"/>
          </a:xfrm>
          <a:prstGeom prst="roundRect">
            <a:avLst>
              <a:gd name="adj" fmla="val 222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662" y="1412999"/>
            <a:ext cx="10554677" cy="304800"/>
          </a:xfrm>
          <a:custGeom>
            <a:avLst/>
            <a:gdLst/>
            <a:ahLst/>
            <a:cxnLst/>
            <a:rect l="l" t="t" r="r" b="b"/>
            <a:pathLst>
              <a:path w="10554677" h="304800">
                <a:moveTo>
                  <a:pt x="101600" y="0"/>
                </a:moveTo>
                <a:lnTo>
                  <a:pt x="10453077" y="0"/>
                </a:lnTo>
                <a:arcTo hR="101600" wR="101600" stAng="16200000" swAng="5400000"/>
                <a:lnTo>
                  <a:pt x="10554677" y="304800"/>
                </a:lnTo>
                <a:lnTo>
                  <a:pt x="0" y="30480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F2630"/>
          </a:solidFill>
          <a:ln/>
        </p:spPr>
      </p:sp>
      <p:sp>
        <p:nvSpPr>
          <p:cNvPr id="5" name="Shape 3"/>
          <p:cNvSpPr/>
          <p:nvPr/>
        </p:nvSpPr>
        <p:spPr>
          <a:xfrm>
            <a:off x="9710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1234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758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529862" y="1458730"/>
            <a:ext cx="166094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MainActivity.kt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9637" y="1898774"/>
            <a:ext cx="3308655" cy="919712"/>
          </a:xfrm>
          <a:prstGeom prst="roundRect">
            <a:avLst>
              <a:gd name="adj" fmla="val 794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323" y="2028459"/>
            <a:ext cx="3140761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9C0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login()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29323" y="2292595"/>
            <a:ext cx="3140761" cy="421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Correo y contraseña con Firebase Authentication.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41642" y="1898774"/>
            <a:ext cx="3308686" cy="919712"/>
          </a:xfrm>
          <a:prstGeom prst="roundRect">
            <a:avLst>
              <a:gd name="adj" fmla="val 794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1329" y="2028459"/>
            <a:ext cx="3140792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armarAlarma()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1329" y="2292595"/>
            <a:ext cx="3140792" cy="421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Activar o desactivar; la orden llega al ESP32.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83678" y="1898774"/>
            <a:ext cx="3308686" cy="919712"/>
          </a:xfrm>
          <a:prstGeom prst="roundRect">
            <a:avLst>
              <a:gd name="adj" fmla="val 794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3364" y="2028459"/>
            <a:ext cx="3140792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A65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estadoSensores()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13364" y="2292595"/>
            <a:ext cx="3140792" cy="421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Magnético (abierto/cerrado) e infrarrojo (presencia).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99637" y="2951835"/>
            <a:ext cx="3308655" cy="919712"/>
          </a:xfrm>
          <a:prstGeom prst="roundRect">
            <a:avLst>
              <a:gd name="adj" fmla="val 794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9323" y="3081520"/>
            <a:ext cx="3140761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5D6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conectividad()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29323" y="3345656"/>
            <a:ext cx="3175794" cy="22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Indica si el ESP32 está en línea.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41642" y="2951835"/>
            <a:ext cx="3308686" cy="919712"/>
          </a:xfrm>
          <a:prstGeom prst="roundRect">
            <a:avLst>
              <a:gd name="adj" fmla="val 794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1329" y="3081520"/>
            <a:ext cx="3140792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alertas()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1329" y="3345656"/>
            <a:ext cx="3140792" cy="421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Aviso en pantalla al detectar una intrusión.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83678" y="2951835"/>
            <a:ext cx="3308686" cy="919712"/>
          </a:xfrm>
          <a:prstGeom prst="roundRect">
            <a:avLst>
              <a:gd name="adj" fmla="val 794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13364" y="3081520"/>
            <a:ext cx="3140792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historial()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13364" y="3345656"/>
            <a:ext cx="3140792" cy="421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Lista de eventos con fecha y hora.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99637" y="4004897"/>
            <a:ext cx="3397250" cy="919712"/>
          </a:xfrm>
          <a:prstGeom prst="roundRect">
            <a:avLst>
              <a:gd name="adj" fmla="val 794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9323" y="4134585"/>
            <a:ext cx="3232013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9C0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sincronizar()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29323" y="4398721"/>
            <a:ext cx="3264388" cy="22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Dos celulares ven el mismo estado.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30237" y="4004897"/>
            <a:ext cx="3397250" cy="919712"/>
          </a:xfrm>
          <a:prstGeom prst="roundRect">
            <a:avLst>
              <a:gd name="adj" fmla="val 794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9923" y="4134585"/>
            <a:ext cx="3232013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nota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59923" y="4398721"/>
            <a:ext cx="3232013" cy="421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Funcionalidades propuestas; aún no implementadas.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2800" y="6238264"/>
            <a:ext cx="10883393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INACAP · TI3042 · Unidad 2 · 5/12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16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interfaz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()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05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9150" y="1413486"/>
            <a:ext cx="1828800" cy="3098800"/>
          </a:xfrm>
          <a:prstGeom prst="roundRect">
            <a:avLst>
              <a:gd name="adj" fmla="val 10764"/>
            </a:avLst>
          </a:prstGeom>
          <a:solidFill>
            <a:srgbClr val="0D1117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1523" y="1545859"/>
            <a:ext cx="1614854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9C0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1 Login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1523" y="1835395"/>
            <a:ext cx="1564054" cy="391136"/>
          </a:xfrm>
          <a:prstGeom prst="roundRect">
            <a:avLst>
              <a:gd name="adj" fmla="val 19482"/>
            </a:avLst>
          </a:prstGeom>
          <a:solidFill>
            <a:srgbClr val="161B22"/>
          </a:solidFill>
          <a:ln/>
        </p:spPr>
        <p:txBody>
          <a:bodyPr wrap="square" lIns="66582" tIns="66582" rIns="15782" bIns="411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Correo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1523" y="2302731"/>
            <a:ext cx="1564054" cy="391136"/>
          </a:xfrm>
          <a:prstGeom prst="roundRect">
            <a:avLst>
              <a:gd name="adj" fmla="val 19482"/>
            </a:avLst>
          </a:prstGeom>
          <a:solidFill>
            <a:srgbClr val="161B22"/>
          </a:solidFill>
          <a:ln/>
        </p:spPr>
        <p:txBody>
          <a:bodyPr wrap="square" lIns="66582" tIns="66582" rIns="15782" bIns="411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Contraseña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1523" y="2770067"/>
            <a:ext cx="1564054" cy="391136"/>
          </a:xfrm>
          <a:prstGeom prst="roundRect">
            <a:avLst>
              <a:gd name="adj" fmla="val 19482"/>
            </a:avLst>
          </a:prstGeom>
          <a:solidFill>
            <a:srgbClr val="79C0FF"/>
          </a:solidFill>
          <a:ln/>
        </p:spPr>
        <p:txBody>
          <a:bodyPr wrap="square" lIns="66582" tIns="66582" rIns="15782" bIns="411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D111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Iniciar sesión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63850" y="1413486"/>
            <a:ext cx="1828800" cy="3098800"/>
          </a:xfrm>
          <a:prstGeom prst="roundRect">
            <a:avLst>
              <a:gd name="adj" fmla="val 10764"/>
            </a:avLst>
          </a:prstGeom>
          <a:solidFill>
            <a:srgbClr val="0D1117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6223" y="1545859"/>
            <a:ext cx="1614854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9C0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2 Panel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96223" y="1835395"/>
            <a:ext cx="1564054" cy="391136"/>
          </a:xfrm>
          <a:prstGeom prst="roundRect">
            <a:avLst>
              <a:gd name="adj" fmla="val 19482"/>
            </a:avLst>
          </a:prstGeom>
          <a:solidFill>
            <a:srgbClr val="161B2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Alarma activada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96223" y="2302731"/>
            <a:ext cx="1564054" cy="391136"/>
          </a:xfrm>
          <a:prstGeom prst="roundRect">
            <a:avLst>
              <a:gd name="adj" fmla="val 19482"/>
            </a:avLst>
          </a:prstGeom>
          <a:solidFill>
            <a:srgbClr val="161B2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ESP32 conectado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96223" y="2770067"/>
            <a:ext cx="1564054" cy="391136"/>
          </a:xfrm>
          <a:prstGeom prst="roundRect">
            <a:avLst>
              <a:gd name="adj" fmla="val 19482"/>
            </a:avLst>
          </a:prstGeom>
          <a:solidFill>
            <a:srgbClr val="161B22"/>
          </a:solidFill>
          <a:ln/>
        </p:spPr>
        <p:txBody>
          <a:bodyPr wrap="square" lIns="66582" tIns="66582" rIns="15782" bIns="411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Puerta cerrada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96223" y="3237402"/>
            <a:ext cx="1564054" cy="391136"/>
          </a:xfrm>
          <a:prstGeom prst="roundRect">
            <a:avLst>
              <a:gd name="adj" fmla="val 19482"/>
            </a:avLst>
          </a:prstGeom>
          <a:solidFill>
            <a:srgbClr val="161B22"/>
          </a:solidFill>
          <a:ln/>
        </p:spPr>
        <p:txBody>
          <a:bodyPr wrap="square" lIns="66582" tIns="66582" rIns="15782" bIns="411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Sin intrusión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08550" y="1413486"/>
            <a:ext cx="1828800" cy="3098800"/>
          </a:xfrm>
          <a:prstGeom prst="roundRect">
            <a:avLst>
              <a:gd name="adj" fmla="val 10764"/>
            </a:avLst>
          </a:prstGeom>
          <a:solidFill>
            <a:srgbClr val="0D1117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0923" y="1545859"/>
            <a:ext cx="1614854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9C0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3 Control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40923" y="1835395"/>
            <a:ext cx="1564054" cy="391136"/>
          </a:xfrm>
          <a:prstGeom prst="roundRect">
            <a:avLst>
              <a:gd name="adj" fmla="val 19482"/>
            </a:avLst>
          </a:prstGeom>
          <a:solidFill>
            <a:srgbClr val="7EE787"/>
          </a:solidFill>
          <a:ln/>
        </p:spPr>
        <p:txBody>
          <a:bodyPr wrap="square" lIns="66582" tIns="66582" rIns="15782" bIns="411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D111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Armar alarma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40923" y="2302731"/>
            <a:ext cx="1564054" cy="391136"/>
          </a:xfrm>
          <a:prstGeom prst="roundRect">
            <a:avLst>
              <a:gd name="adj" fmla="val 19482"/>
            </a:avLst>
          </a:prstGeom>
          <a:solidFill>
            <a:srgbClr val="161B22"/>
          </a:solidFill>
          <a:ln/>
        </p:spPr>
        <p:txBody>
          <a:bodyPr wrap="square" lIns="66582" tIns="66582" rIns="15782" bIns="411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Desarmar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40923" y="2770067"/>
            <a:ext cx="1564054" cy="604471"/>
          </a:xfrm>
          <a:prstGeom prst="roundRect">
            <a:avLst>
              <a:gd name="adj" fmla="val 12606"/>
            </a:avLst>
          </a:prstGeom>
          <a:solidFill>
            <a:srgbClr val="161B22"/>
          </a:solidFill>
          <a:ln/>
        </p:spPr>
        <p:txBody>
          <a:bodyPr wrap="square" lIns="66582" tIns="66582" rIns="15782" bIns="411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Estado: activada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53250" y="1413486"/>
            <a:ext cx="1828800" cy="3098800"/>
          </a:xfrm>
          <a:prstGeom prst="roundRect">
            <a:avLst>
              <a:gd name="adj" fmla="val 10764"/>
            </a:avLst>
          </a:prstGeom>
          <a:solidFill>
            <a:srgbClr val="0D1117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5623" y="1545859"/>
            <a:ext cx="1614854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9C0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4 Sensores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85623" y="1835395"/>
            <a:ext cx="1564054" cy="604471"/>
          </a:xfrm>
          <a:prstGeom prst="roundRect">
            <a:avLst>
              <a:gd name="adj" fmla="val 12606"/>
            </a:avLst>
          </a:prstGeom>
          <a:solidFill>
            <a:srgbClr val="161B22"/>
          </a:solidFill>
          <a:ln/>
        </p:spPr>
        <p:txBody>
          <a:bodyPr wrap="square" lIns="66582" tIns="66582" rIns="15782" bIns="411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Magnético: cerrado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85623" y="2516067"/>
            <a:ext cx="1564054" cy="604471"/>
          </a:xfrm>
          <a:prstGeom prst="roundRect">
            <a:avLst>
              <a:gd name="adj" fmla="val 12606"/>
            </a:avLst>
          </a:prstGeom>
          <a:solidFill>
            <a:srgbClr val="161B22"/>
          </a:solidFill>
          <a:ln/>
        </p:spPr>
        <p:txBody>
          <a:bodyPr wrap="square" lIns="66582" tIns="66582" rIns="15782" bIns="411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Infrarrojo: libre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85623" y="3196738"/>
            <a:ext cx="1564054" cy="604471"/>
          </a:xfrm>
          <a:prstGeom prst="roundRect">
            <a:avLst>
              <a:gd name="adj" fmla="val 12606"/>
            </a:avLst>
          </a:prstGeom>
          <a:solidFill>
            <a:srgbClr val="161B22"/>
          </a:solidFill>
          <a:ln/>
        </p:spPr>
        <p:txBody>
          <a:bodyPr wrap="square" lIns="66582" tIns="66582" rIns="15782" bIns="411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Wi-Fi: conectado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97950" y="1413486"/>
            <a:ext cx="1828800" cy="3098800"/>
          </a:xfrm>
          <a:prstGeom prst="roundRect">
            <a:avLst>
              <a:gd name="adj" fmla="val 10764"/>
            </a:avLst>
          </a:prstGeom>
          <a:solidFill>
            <a:srgbClr val="0D1117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0323" y="1545859"/>
            <a:ext cx="1614854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9C0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5 Historial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30323" y="1835395"/>
            <a:ext cx="1564054" cy="604471"/>
          </a:xfrm>
          <a:prstGeom prst="roundRect">
            <a:avLst>
              <a:gd name="adj" fmla="val 12606"/>
            </a:avLst>
          </a:prstGeom>
          <a:solidFill>
            <a:srgbClr val="FFA657"/>
          </a:solidFill>
          <a:ln/>
        </p:spPr>
        <p:txBody>
          <a:bodyPr wrap="square" lIns="66582" tIns="66582" rIns="15782" bIns="411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D111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Intrusión detectada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30323" y="2516067"/>
            <a:ext cx="1564054" cy="391136"/>
          </a:xfrm>
          <a:prstGeom prst="roundRect">
            <a:avLst>
              <a:gd name="adj" fmla="val 19482"/>
            </a:avLst>
          </a:prstGeom>
          <a:solidFill>
            <a:srgbClr val="161B2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Alarma activada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30323" y="2983402"/>
            <a:ext cx="1564054" cy="604471"/>
          </a:xfrm>
          <a:prstGeom prst="roundRect">
            <a:avLst>
              <a:gd name="adj" fmla="val 12606"/>
            </a:avLst>
          </a:prstGeom>
          <a:solidFill>
            <a:srgbClr val="161B22"/>
          </a:solidFill>
          <a:ln/>
        </p:spPr>
        <p:txBody>
          <a:bodyPr wrap="square" lIns="66582" tIns="66582" rIns="15782" bIns="411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Alarma desactivada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800" y="4721836"/>
            <a:ext cx="1638117" cy="314936"/>
          </a:xfrm>
          <a:prstGeom prst="roundRect">
            <a:avLst>
              <a:gd name="adj" fmla="val 48391"/>
            </a:avLst>
          </a:prstGeom>
          <a:solidFill>
            <a:srgbClr val="7EE78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Alarma activada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77917" y="4721836"/>
            <a:ext cx="1914922" cy="314936"/>
          </a:xfrm>
          <a:prstGeom prst="roundRect">
            <a:avLst>
              <a:gd name="adj" fmla="val 48391"/>
            </a:avLst>
          </a:prstGeom>
          <a:solidFill>
            <a:srgbClr val="8B949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Alarma desactivada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19839" y="4721836"/>
            <a:ext cx="2007211" cy="314936"/>
          </a:xfrm>
          <a:prstGeom prst="roundRect">
            <a:avLst>
              <a:gd name="adj" fmla="val 48391"/>
            </a:avLst>
          </a:prstGeom>
          <a:solidFill>
            <a:srgbClr val="FFA65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Intrusión detectada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54050" y="4721836"/>
            <a:ext cx="2468563" cy="314936"/>
          </a:xfrm>
          <a:prstGeom prst="roundRect">
            <a:avLst>
              <a:gd name="adj" fmla="val 48391"/>
            </a:avLst>
          </a:prstGeom>
          <a:solidFill>
            <a:srgbClr val="D2A8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Dispositivo desconectado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2800" y="6238267"/>
            <a:ext cx="10883393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INACAP · TI3042 · Unidad 2 · 6/12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3"/>
            <a:ext cx="10883393" cy="416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herramientas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()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06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10311"/>
            <a:ext cx="10560051" cy="4428515"/>
          </a:xfrm>
          <a:prstGeom prst="roundRect">
            <a:avLst>
              <a:gd name="adj" fmla="val 222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662" y="1412999"/>
            <a:ext cx="10554677" cy="304800"/>
          </a:xfrm>
          <a:custGeom>
            <a:avLst/>
            <a:gdLst/>
            <a:ahLst/>
            <a:cxnLst/>
            <a:rect l="l" t="t" r="r" b="b"/>
            <a:pathLst>
              <a:path w="10554677" h="304800">
                <a:moveTo>
                  <a:pt x="101600" y="0"/>
                </a:moveTo>
                <a:lnTo>
                  <a:pt x="10453077" y="0"/>
                </a:lnTo>
                <a:arcTo hR="101600" wR="101600" stAng="16200000" swAng="5400000"/>
                <a:lnTo>
                  <a:pt x="10554677" y="304800"/>
                </a:lnTo>
                <a:lnTo>
                  <a:pt x="0" y="30480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F2630"/>
          </a:solidFill>
          <a:ln/>
        </p:spPr>
      </p:sp>
      <p:sp>
        <p:nvSpPr>
          <p:cNvPr id="5" name="Shape 3"/>
          <p:cNvSpPr/>
          <p:nvPr/>
        </p:nvSpPr>
        <p:spPr>
          <a:xfrm>
            <a:off x="9710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1234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758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529862" y="1458730"/>
            <a:ext cx="166094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Herramientas.kt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8185" y="1907322"/>
          <a:ext cx="9894277" cy="3423780"/>
        </p:xfrm>
        <a:graphic>
          <a:graphicData uri="http://schemas.openxmlformats.org/drawingml/2006/table">
            <a:tbl>
              <a:tblPr/>
              <a:tblGrid>
                <a:gridCol w="4947138"/>
                <a:gridCol w="4947138"/>
              </a:tblGrid>
              <a:tr h="348700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b="1" dirty="0">
                          <a:solidFill>
                            <a:srgbClr val="FFA657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Herramienta</a:t>
                      </a:r>
                      <a:endParaRPr lang="en-US" sz="1189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b="1" dirty="0">
                          <a:solidFill>
                            <a:srgbClr val="FFA657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Uso y motivo</a:t>
                      </a:r>
                      <a:endParaRPr lang="en-US" sz="1189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D33"/>
                    </a:solidFill>
                  </a:tcPr>
                </a:tc>
              </a:tr>
              <a:tr h="560052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79C0FF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Android Studio</a:t>
                      </a:r>
                      <a:endParaRPr lang="en-US" sz="1189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C9D1D9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IDE oficial de Android: editor, emulador y depuración.</a:t>
                      </a:r>
                      <a:endParaRPr lang="en-US" sz="1189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700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79C0FF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Kotlin</a:t>
                      </a:r>
                      <a:endParaRPr lang="en-US" sz="1189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C9D1D9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Lenguaje recomendado para Android: conciso y seguro.</a:t>
                      </a:r>
                      <a:endParaRPr lang="en-US" sz="1189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700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79C0FF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Jetpack Compose</a:t>
                      </a:r>
                      <a:endParaRPr lang="en-US" sz="1189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C9D1D9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UI declarativa, con Material Design 3 integrado.</a:t>
                      </a:r>
                      <a:endParaRPr lang="en-US" sz="1189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731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79C0FF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Arduino IDE</a:t>
                      </a:r>
                      <a:endParaRPr lang="en-US" sz="1189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C9D1D9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Programa el ESP32 en C/C++ con muchas librerías.</a:t>
                      </a:r>
                      <a:endParaRPr lang="en-US" sz="1189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731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79C0FF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Wokwi</a:t>
                      </a:r>
                      <a:endParaRPr lang="en-US" sz="1189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C9D1D9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Simula el circuito ESP32 antes del montaje físico.</a:t>
                      </a:r>
                      <a:endParaRPr lang="en-US" sz="1189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82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79C0FF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Firebase Authentication</a:t>
                      </a:r>
                      <a:endParaRPr lang="en-US" sz="1189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C9D1D9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Opcional, no implementado por ahora: login de usuarios.</a:t>
                      </a:r>
                      <a:endParaRPr lang="en-US" sz="1189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82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79C0FF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Firebase Realtime Database</a:t>
                      </a:r>
                      <a:endParaRPr lang="en-US" sz="1189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C9D1D9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Opcional, no implementado por ahora: sincroniza estados y eventos.</a:t>
                      </a:r>
                      <a:endParaRPr lang="en-US" sz="1189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96462" y="5432701"/>
            <a:ext cx="10505050" cy="251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Firebase no está incluido en esta etapa porque no es obligatorio; queda como propuesta de mejora.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2800" y="6238267"/>
            <a:ext cx="10883393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INACAP · TI3042 · Unidad 2 · 7/12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16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wifi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()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07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10311"/>
            <a:ext cx="10560051" cy="4428515"/>
          </a:xfrm>
          <a:prstGeom prst="roundRect">
            <a:avLst>
              <a:gd name="adj" fmla="val 222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662" y="1412996"/>
            <a:ext cx="10554677" cy="304800"/>
          </a:xfrm>
          <a:custGeom>
            <a:avLst/>
            <a:gdLst/>
            <a:ahLst/>
            <a:cxnLst/>
            <a:rect l="l" t="t" r="r" b="b"/>
            <a:pathLst>
              <a:path w="10554677" h="304800">
                <a:moveTo>
                  <a:pt x="101600" y="0"/>
                </a:moveTo>
                <a:lnTo>
                  <a:pt x="10453077" y="0"/>
                </a:lnTo>
                <a:arcTo hR="101600" wR="101600" stAng="16200000" swAng="5400000"/>
                <a:lnTo>
                  <a:pt x="10554677" y="304800"/>
                </a:lnTo>
                <a:lnTo>
                  <a:pt x="0" y="30480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F2630"/>
          </a:solidFill>
          <a:ln/>
        </p:spPr>
      </p:sp>
      <p:sp>
        <p:nvSpPr>
          <p:cNvPr id="5" name="Shape 3"/>
          <p:cNvSpPr/>
          <p:nvPr/>
        </p:nvSpPr>
        <p:spPr>
          <a:xfrm>
            <a:off x="971062" y="1520946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123462" y="1520946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75862" y="1520946"/>
            <a:ext cx="88900" cy="889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529862" y="1458730"/>
            <a:ext cx="166094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Comunicacion.kt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6462" y="1895596"/>
            <a:ext cx="5121715" cy="27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9C0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¿por qué Wi-Fi?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6462" y="2233399"/>
            <a:ext cx="5121715" cy="248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▸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Ya viene integrado en el ESP32.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6462" y="2545159"/>
            <a:ext cx="5121715" cy="248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▸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Permite hablar con servicios en internet.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96462" y="2856920"/>
            <a:ext cx="5121715" cy="248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▸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Facilita monitorear desde varios celulares.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6462" y="3168678"/>
            <a:ext cx="5238262" cy="248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▸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Mayor alcance práctico que Bluetooth si hay red.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6462" y="3480439"/>
            <a:ext cx="5121715" cy="248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▸</a:t>
            </a: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Adecuado para estados y eventos.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4723" y="1907319"/>
          <a:ext cx="4814277" cy="1871968"/>
        </p:xfrm>
        <a:graphic>
          <a:graphicData uri="http://schemas.openxmlformats.org/drawingml/2006/table">
            <a:tbl>
              <a:tblPr/>
              <a:tblGrid>
                <a:gridCol w="1604759"/>
                <a:gridCol w="1604759"/>
                <a:gridCol w="1604759"/>
              </a:tblGrid>
              <a:tr h="33172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A657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Criterio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A657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Wi-Fi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A657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Bluetooth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D33"/>
                    </a:solidFill>
                  </a:tcPr>
                </a:tc>
              </a:tr>
              <a:tr h="33172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9C0FF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Alcance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Amplio con red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Corto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72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9C0FF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Consumo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Mayor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Menor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06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9C0FF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Estabilidad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Depende de la red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Estable cerca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72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9C0FF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Infraestructura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Requiere router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9D1D9"/>
                          </a:solidFill>
                          <a:latin typeface="Consolas" pitchFamily="49" charset="0"/>
                          <a:ea typeface="Consolas" pitchFamily="49" charset="-122"/>
                          <a:cs typeface="Consolas" pitchFamily="49" charset="-120"/>
                        </a:rPr>
                        <a:t>No requiere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812800" y="6238264"/>
            <a:ext cx="10883393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INACAP · TI3042 · Unidad 2 · 8/12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16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arquitectura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()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08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10314"/>
            <a:ext cx="10560051" cy="4428515"/>
          </a:xfrm>
          <a:prstGeom prst="roundRect">
            <a:avLst>
              <a:gd name="adj" fmla="val 222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662" y="1412999"/>
            <a:ext cx="10554677" cy="304800"/>
          </a:xfrm>
          <a:custGeom>
            <a:avLst/>
            <a:gdLst/>
            <a:ahLst/>
            <a:cxnLst/>
            <a:rect l="l" t="t" r="r" b="b"/>
            <a:pathLst>
              <a:path w="10554677" h="304800">
                <a:moveTo>
                  <a:pt x="101600" y="0"/>
                </a:moveTo>
                <a:lnTo>
                  <a:pt x="10453077" y="0"/>
                </a:lnTo>
                <a:arcTo hR="101600" wR="101600" stAng="16200000" swAng="5400000"/>
                <a:lnTo>
                  <a:pt x="10554677" y="304800"/>
                </a:lnTo>
                <a:lnTo>
                  <a:pt x="0" y="30480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F2630"/>
          </a:solidFill>
          <a:ln/>
        </p:spPr>
      </p:sp>
      <p:sp>
        <p:nvSpPr>
          <p:cNvPr id="5" name="Shape 3"/>
          <p:cNvSpPr/>
          <p:nvPr/>
        </p:nvSpPr>
        <p:spPr>
          <a:xfrm>
            <a:off x="9710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1234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758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529862" y="1458733"/>
            <a:ext cx="166094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Arquitectura.kt</a:t>
            </a:r>
            <a:endParaRPr lang="en-US" sz="1200" dirty="0"/>
          </a:p>
        </p:txBody>
      </p:sp>
      <p:pic>
        <p:nvPicPr>
          <p:cNvPr id="9" name="Image 0" descr="Arquitectura del sistema">    </p:cNvPr>
          <p:cNvPicPr>
            <a:picLocks noChangeAspect="1"/>
          </p:cNvPicPr>
          <p:nvPr/>
        </p:nvPicPr>
        <p:blipFill>
          <a:blip r:embed="rId1"/>
          <a:srcRect l="-20" r="-20" t="0" b="0"/>
          <a:stretch/>
        </p:blipFill>
        <p:spPr>
          <a:xfrm>
            <a:off x="996462" y="1895599"/>
            <a:ext cx="9906000" cy="2857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6462" y="4829299"/>
            <a:ext cx="1050505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Firebase es opcional (no es obligatorio) y no está implementado en esta etapa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6238267"/>
            <a:ext cx="10883393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INACAP · TI3042 · Unidad 2 · 9/12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16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estandares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()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09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10314"/>
            <a:ext cx="10560051" cy="4428515"/>
          </a:xfrm>
          <a:prstGeom prst="roundRect">
            <a:avLst>
              <a:gd name="adj" fmla="val 222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662" y="1412999"/>
            <a:ext cx="10554677" cy="304800"/>
          </a:xfrm>
          <a:custGeom>
            <a:avLst/>
            <a:gdLst/>
            <a:ahLst/>
            <a:cxnLst/>
            <a:rect l="l" t="t" r="r" b="b"/>
            <a:pathLst>
              <a:path w="10554677" h="304800">
                <a:moveTo>
                  <a:pt x="101600" y="0"/>
                </a:moveTo>
                <a:lnTo>
                  <a:pt x="10453077" y="0"/>
                </a:lnTo>
                <a:arcTo hR="101600" wR="101600" stAng="16200000" swAng="5400000"/>
                <a:lnTo>
                  <a:pt x="10554677" y="304800"/>
                </a:lnTo>
                <a:lnTo>
                  <a:pt x="0" y="30480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F2630"/>
          </a:solidFill>
          <a:ln/>
        </p:spPr>
      </p:sp>
      <p:sp>
        <p:nvSpPr>
          <p:cNvPr id="5" name="Shape 3"/>
          <p:cNvSpPr/>
          <p:nvPr/>
        </p:nvSpPr>
        <p:spPr>
          <a:xfrm>
            <a:off x="9710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1234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758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529862" y="1458733"/>
            <a:ext cx="1439484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Estandares.kt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9637" y="1898774"/>
            <a:ext cx="2448169" cy="1117814"/>
          </a:xfrm>
          <a:prstGeom prst="roundRect">
            <a:avLst>
              <a:gd name="adj" fmla="val 6533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323" y="2028459"/>
            <a:ext cx="225446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9C0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Material Design 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29323" y="2292598"/>
            <a:ext cx="2254460" cy="619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Diseño moderno, consistente y accesible.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81156" y="1898774"/>
            <a:ext cx="2448169" cy="1117814"/>
          </a:xfrm>
          <a:prstGeom prst="roundRect">
            <a:avLst>
              <a:gd name="adj" fmla="val 6533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0842" y="2028459"/>
            <a:ext cx="225446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MVVM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10842" y="2292598"/>
            <a:ext cx="2254460" cy="421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Separa interfaz, lógica y datos.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2675" y="1898774"/>
            <a:ext cx="2448169" cy="1117814"/>
          </a:xfrm>
          <a:prstGeom prst="roundRect">
            <a:avLst>
              <a:gd name="adj" fmla="val 6533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2362" y="2028459"/>
            <a:ext cx="225446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A65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Ciclo de vida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92362" y="2292598"/>
            <a:ext cx="2254460" cy="421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Controla estados y conexiones.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44194" y="1898774"/>
            <a:ext cx="2448169" cy="1117814"/>
          </a:xfrm>
          <a:prstGeom prst="roundRect">
            <a:avLst>
              <a:gd name="adj" fmla="val 6533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73881" y="2028459"/>
            <a:ext cx="225446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5D6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Permiso INTERNET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73881" y="2292598"/>
            <a:ext cx="2254460" cy="421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Acceso a servicios de red.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9637" y="3149941"/>
            <a:ext cx="2448169" cy="919712"/>
          </a:xfrm>
          <a:prstGeom prst="roundRect">
            <a:avLst>
              <a:gd name="adj" fmla="val 794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9323" y="3279626"/>
            <a:ext cx="225446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Firebase Auth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29323" y="3543759"/>
            <a:ext cx="2254460" cy="421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Identifica a cada usuario.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81156" y="3149941"/>
            <a:ext cx="2448169" cy="919712"/>
          </a:xfrm>
          <a:prstGeom prst="roundRect">
            <a:avLst>
              <a:gd name="adj" fmla="val 794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10842" y="3279626"/>
            <a:ext cx="225446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HTTPS/TLS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10842" y="3543759"/>
            <a:ext cx="2254460" cy="421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Protege los datos en tránsito.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62675" y="3149941"/>
            <a:ext cx="2448169" cy="919712"/>
          </a:xfrm>
          <a:prstGeom prst="roundRect">
            <a:avLst>
              <a:gd name="adj" fmla="val 794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2362" y="3279626"/>
            <a:ext cx="225446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A65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Reglas Firebase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92362" y="3543759"/>
            <a:ext cx="2254460" cy="421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Control de acceso a los datos.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44194" y="3149941"/>
            <a:ext cx="2448169" cy="919712"/>
          </a:xfrm>
          <a:prstGeom prst="roundRect">
            <a:avLst>
              <a:gd name="adj" fmla="val 794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73881" y="3279626"/>
            <a:ext cx="225446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ISO/IEC 27400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73881" y="3543759"/>
            <a:ext cx="2254460" cy="421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Ciberseguridad y privacidad en IoT.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96462" y="4199824"/>
            <a:ext cx="10505050" cy="25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evitar exponer credenciales administrativas y proteger la comunicación con el ESP32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67"/>
            <a:ext cx="10883393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INACAP · TI3042 · Unidad 2 · 10/12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16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pruebas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()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10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10314"/>
            <a:ext cx="10560051" cy="4428515"/>
          </a:xfrm>
          <a:prstGeom prst="roundRect">
            <a:avLst>
              <a:gd name="adj" fmla="val 222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662" y="1412999"/>
            <a:ext cx="10554677" cy="304800"/>
          </a:xfrm>
          <a:custGeom>
            <a:avLst/>
            <a:gdLst/>
            <a:ahLst/>
            <a:cxnLst/>
            <a:rect l="l" t="t" r="r" b="b"/>
            <a:pathLst>
              <a:path w="10554677" h="304800">
                <a:moveTo>
                  <a:pt x="101600" y="0"/>
                </a:moveTo>
                <a:lnTo>
                  <a:pt x="10453077" y="0"/>
                </a:lnTo>
                <a:arcTo hR="101600" wR="101600" stAng="16200000" swAng="5400000"/>
                <a:lnTo>
                  <a:pt x="10554677" y="304800"/>
                </a:lnTo>
                <a:lnTo>
                  <a:pt x="0" y="30480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F2630"/>
          </a:solidFill>
          <a:ln/>
        </p:spPr>
      </p:sp>
      <p:sp>
        <p:nvSpPr>
          <p:cNvPr id="5" name="Shape 3"/>
          <p:cNvSpPr/>
          <p:nvPr/>
        </p:nvSpPr>
        <p:spPr>
          <a:xfrm>
            <a:off x="9710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1234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758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529862" y="1458733"/>
            <a:ext cx="1107281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Pruebas.kt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9637" y="1898774"/>
            <a:ext cx="3308655" cy="721610"/>
          </a:xfrm>
          <a:prstGeom prst="roundRect">
            <a:avLst>
              <a:gd name="adj" fmla="val 1012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323" y="2028459"/>
            <a:ext cx="3140761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Sensor magnético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29323" y="2292598"/>
            <a:ext cx="3140761" cy="22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Lee abierto/cerrado.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41642" y="1898774"/>
            <a:ext cx="3308686" cy="721610"/>
          </a:xfrm>
          <a:prstGeom prst="roundRect">
            <a:avLst>
              <a:gd name="adj" fmla="val 1012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1329" y="2028459"/>
            <a:ext cx="3140792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Sensor infrarrojo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1329" y="2292598"/>
            <a:ext cx="3140792" cy="22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Detecta presencia.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83678" y="1898774"/>
            <a:ext cx="3308686" cy="721610"/>
          </a:xfrm>
          <a:prstGeom prst="roundRect">
            <a:avLst>
              <a:gd name="adj" fmla="val 1012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3364" y="2028459"/>
            <a:ext cx="3140792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LED y zumbador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13364" y="2292598"/>
            <a:ext cx="3140792" cy="22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 activan y apagan.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99637" y="2728336"/>
            <a:ext cx="3308655" cy="721610"/>
          </a:xfrm>
          <a:prstGeom prst="roundRect">
            <a:avLst>
              <a:gd name="adj" fmla="val 1012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9323" y="2858021"/>
            <a:ext cx="3140761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Control Android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29323" y="3122160"/>
            <a:ext cx="3140761" cy="22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Armar/desarmar llega al ESP32.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41642" y="2728336"/>
            <a:ext cx="3308686" cy="721610"/>
          </a:xfrm>
          <a:prstGeom prst="roundRect">
            <a:avLst>
              <a:gd name="adj" fmla="val 1012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1329" y="2858021"/>
            <a:ext cx="3140792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Wi-Fi del ESP32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1329" y="3122160"/>
            <a:ext cx="3140792" cy="22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Conecta y reconecta.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83678" y="2728336"/>
            <a:ext cx="3308686" cy="721610"/>
          </a:xfrm>
          <a:prstGeom prst="roundRect">
            <a:avLst>
              <a:gd name="adj" fmla="val 1012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13364" y="2858021"/>
            <a:ext cx="3140792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Autenticación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13364" y="3122160"/>
            <a:ext cx="3140792" cy="22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Solo usuarios registrados.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99637" y="3557898"/>
            <a:ext cx="3308655" cy="721610"/>
          </a:xfrm>
          <a:prstGeom prst="roundRect">
            <a:avLst>
              <a:gd name="adj" fmla="val 1012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9323" y="3687583"/>
            <a:ext cx="3140761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Sincronización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29323" y="3951715"/>
            <a:ext cx="3140761" cy="22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Dos celulares, mismo estado.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41642" y="3557898"/>
            <a:ext cx="3308686" cy="721610"/>
          </a:xfrm>
          <a:prstGeom prst="roundRect">
            <a:avLst>
              <a:gd name="adj" fmla="val 1012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1329" y="3687583"/>
            <a:ext cx="3140792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Eventos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1329" y="3951715"/>
            <a:ext cx="3140792" cy="22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 guardan y consultan.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83678" y="3557898"/>
            <a:ext cx="3308686" cy="721610"/>
          </a:xfrm>
          <a:prstGeom prst="roundRect">
            <a:avLst>
              <a:gd name="adj" fmla="val 1012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13364" y="3687583"/>
            <a:ext cx="3140792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Seguridad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13364" y="3951715"/>
            <a:ext cx="3140792" cy="22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Reglas de Firebase y HTTPS.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96462" y="4384278"/>
            <a:ext cx="1050505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planificadas, aún no ejecutadas: primero simulación (Wokwi), luego pruebas físicas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800" y="6238267"/>
            <a:ext cx="10883393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INACAP · TI3042 · Unidad 2 · 11/12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3" cy="416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F7B7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D2A8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conclusion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()</a:t>
            </a:r>
            <a:r>
              <a:rPr lang="en-US" sz="2800" b="1" i="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  <a:r>
              <a:rPr lang="en-US" sz="2800" b="1" i="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11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10314"/>
            <a:ext cx="10560051" cy="4428515"/>
          </a:xfrm>
          <a:prstGeom prst="roundRect">
            <a:avLst>
              <a:gd name="adj" fmla="val 222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662" y="1412999"/>
            <a:ext cx="10554677" cy="304800"/>
          </a:xfrm>
          <a:custGeom>
            <a:avLst/>
            <a:gdLst/>
            <a:ahLst/>
            <a:cxnLst/>
            <a:rect l="l" t="t" r="r" b="b"/>
            <a:pathLst>
              <a:path w="10554677" h="304800">
                <a:moveTo>
                  <a:pt x="101600" y="0"/>
                </a:moveTo>
                <a:lnTo>
                  <a:pt x="10453077" y="0"/>
                </a:lnTo>
                <a:arcTo hR="101600" wR="101600" stAng="16200000" swAng="5400000"/>
                <a:lnTo>
                  <a:pt x="10554677" y="304800"/>
                </a:lnTo>
                <a:lnTo>
                  <a:pt x="0" y="30480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F2630"/>
          </a:solidFill>
          <a:ln/>
        </p:spPr>
      </p:sp>
      <p:sp>
        <p:nvSpPr>
          <p:cNvPr id="5" name="Shape 3"/>
          <p:cNvSpPr/>
          <p:nvPr/>
        </p:nvSpPr>
        <p:spPr>
          <a:xfrm>
            <a:off x="9710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1234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75862" y="1520949"/>
            <a:ext cx="88900" cy="889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529862" y="1458733"/>
            <a:ext cx="1439484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Conclusion.kt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9637" y="1898774"/>
            <a:ext cx="3291742" cy="1381980"/>
          </a:xfrm>
          <a:prstGeom prst="roundRect">
            <a:avLst>
              <a:gd name="adj" fmla="val 528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323" y="2028459"/>
            <a:ext cx="312334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9C0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Integración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29323" y="2292598"/>
            <a:ext cx="3123340" cy="66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El proyecto une electrónica, programación Android y tecnologías IoT.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50129" y="1898774"/>
            <a:ext cx="3291742" cy="1381980"/>
          </a:xfrm>
          <a:prstGeom prst="roundRect">
            <a:avLst>
              <a:gd name="adj" fmla="val 528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9815" y="2028459"/>
            <a:ext cx="312334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Ventajas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9815" y="2292598"/>
            <a:ext cx="3123340" cy="883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ESP32 con Wi-Fi integrado, comunicación inalámbrica y monitoreo desde varios dispositivos.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00622" y="1898774"/>
            <a:ext cx="3291742" cy="1381980"/>
          </a:xfrm>
          <a:prstGeom prst="roundRect">
            <a:avLst>
              <a:gd name="adj" fmla="val 5284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30308" y="2028459"/>
            <a:ext cx="3123340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A65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Siguientes pasos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30308" y="2292598"/>
            <a:ext cx="3123340" cy="66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Simulaciones, implementación, pruebas físicas y validación con el docente.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6462" y="3461730"/>
            <a:ext cx="10505050" cy="25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simulación → implementación → pruebas físicas → validación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67"/>
            <a:ext cx="10883393" cy="238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// INACAP · TI3042 · Unidad 2 · 12/12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a de Alarma Inteligente con ESP32 y Android">
  <a:themeElements>
    <a:clrScheme name="Sistema de Alarma Inteligente con ESP32 y Android">
      <a:dk1>
        <a:srgbClr val="0D1117"/>
      </a:dk1>
      <a:lt1>
        <a:srgbClr val="C9D1D9"/>
      </a:lt1>
      <a:dk2>
        <a:srgbClr val="20242A"/>
      </a:dk2>
      <a:lt2>
        <a:srgbClr val="9AA1A9"/>
      </a:lt2>
      <a:accent1>
        <a:srgbClr val="7EE787"/>
      </a:accent1>
      <a:accent2>
        <a:srgbClr val="79C0FF"/>
      </a:accent2>
      <a:accent3>
        <a:srgbClr val="FF5F56"/>
      </a:accent3>
      <a:accent4>
        <a:srgbClr val="FFBD2E"/>
      </a:accent4>
      <a:accent5>
        <a:srgbClr val="27C93F"/>
      </a:accent5>
      <a:accent6>
        <a:srgbClr val="FFA657"/>
      </a:accent6>
      <a:hlink>
        <a:srgbClr val="0563C1"/>
      </a:hlink>
      <a:folHlink>
        <a:srgbClr val="954F72"/>
      </a:folHlink>
    </a:clrScheme>
    <a:fontScheme name="Sistema de Alarma Inteligente con ESP32 y Android">
      <a:majorFont>
        <a:latin typeface="Consola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nsola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Alarma Inteligente con ESP32 y Android</dc:title>
  <dc:subject/>
  <dc:creator/>
  <cp:lastModifiedBy/>
  <cp:revision>1</cp:revision>
  <dcterms:created xsi:type="dcterms:W3CDTF">2026-10-21T14:27:48Z</dcterms:created>
  <dcterms:modified xsi:type="dcterms:W3CDTF">2026-10-21T14:27:48Z</dcterms:modified>
</cp:coreProperties>
</file>